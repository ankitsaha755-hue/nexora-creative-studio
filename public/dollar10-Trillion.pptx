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ela Gothic One" pitchFamily="2" charset="-128"/>
      <p:regular r:id="rId13"/>
    </p:embeddedFont>
    <p:embeddedFont>
      <p:font typeface="Calibri" pitchFamily="34" charset="0"/>
      <p:regular r:id="rId14"/>
      <p:bold r:id="rId15"/>
      <p:italic r:id="rId16"/>
      <p:boldItalic r:id="rId17"/>
    </p:embeddedFont>
    <p:embeddedFont>
      <p:font typeface="DM Sans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-523" y="-101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-4-3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-8-8.svg"/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-8-6.svg"/><Relationship Id="rId5" Type="http://schemas.openxmlformats.org/officeDocument/2006/relationships/image" Target="../media/image-8-4.svg"/><Relationship Id="rId10" Type="http://schemas.openxmlformats.org/officeDocument/2006/relationships/image" Target="../media/image-8-10.svg"/><Relationship Id="rId4" Type="http://schemas.openxmlformats.org/officeDocument/2006/relationships/image" Target="../media/image-8-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7322" y="577334"/>
            <a:ext cx="7722156" cy="4008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0"/>
              </a:lnSpc>
              <a:buNone/>
            </a:pPr>
            <a:r>
              <a:rPr lang="en-US" sz="12600" dirty="0">
                <a:solidFill>
                  <a:srgbClr val="C91313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$10 Trillion</a:t>
            </a:r>
            <a:endParaRPr lang="en-US" sz="12600" dirty="0"/>
          </a:p>
        </p:txBody>
      </p:sp>
      <p:sp>
        <p:nvSpPr>
          <p:cNvPr id="4" name="Text 1"/>
          <p:cNvSpPr/>
          <p:nvPr/>
        </p:nvSpPr>
        <p:spPr>
          <a:xfrm>
            <a:off x="6197322" y="4871799"/>
            <a:ext cx="7722156" cy="1336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4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$10 Trillion Problem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197322" y="6493550"/>
            <a:ext cx="7722156" cy="629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deep dive into the global cost of cybercrime — and the actionable steps your business must take right now.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197322" y="7337346"/>
            <a:ext cx="7722156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50" i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Cybersecurity Executive Briefing · 2024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3510" y="925711"/>
            <a:ext cx="7628334" cy="645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Scale of the Problem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6173510" y="1838444"/>
            <a:ext cx="7769781" cy="299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Cybercrime has become the world's third-largest economy — and it's accelerating.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173510" y="2436019"/>
            <a:ext cx="3773686" cy="647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00"/>
              </a:lnSpc>
              <a:buNone/>
            </a:pPr>
            <a:r>
              <a:rPr lang="en-US" sz="5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$10T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6768584" y="3315414"/>
            <a:ext cx="2583537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Annual Cost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173510" y="3744992"/>
            <a:ext cx="3773686" cy="897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Exceeds the GDP of every nation except the US and China — and projected to reach </a:t>
            </a:r>
            <a:r>
              <a:rPr lang="en-US" sz="15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$23 trillion by 2027</a:t>
            </a:r>
            <a:r>
              <a:rPr lang="en-US" sz="1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169604" y="2436019"/>
            <a:ext cx="3773686" cy="647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00"/>
              </a:lnSpc>
              <a:buNone/>
            </a:pPr>
            <a:r>
              <a:rPr lang="en-US" sz="5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39s</a:t>
            </a:r>
            <a:endParaRPr lang="en-US" sz="5100" dirty="0"/>
          </a:p>
        </p:txBody>
      </p:sp>
      <p:sp>
        <p:nvSpPr>
          <p:cNvPr id="9" name="Text 6"/>
          <p:cNvSpPr/>
          <p:nvPr/>
        </p:nvSpPr>
        <p:spPr>
          <a:xfrm>
            <a:off x="10683954" y="3315414"/>
            <a:ext cx="2744986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Attack Frequency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169604" y="3744992"/>
            <a:ext cx="3773686" cy="897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cyberattack occurs somewhere in the world every </a:t>
            </a:r>
            <a:r>
              <a:rPr lang="en-US" sz="15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39 seconds</a:t>
            </a:r>
            <a:r>
              <a:rPr lang="en-US" sz="1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around the clock.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171498" y="5096947"/>
            <a:ext cx="3773686" cy="647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00"/>
              </a:lnSpc>
              <a:buNone/>
            </a:pPr>
            <a:r>
              <a:rPr lang="en-US" sz="5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2,200+</a:t>
            </a:r>
            <a:endParaRPr lang="en-US" sz="5100" dirty="0"/>
          </a:p>
        </p:txBody>
      </p:sp>
      <p:sp>
        <p:nvSpPr>
          <p:cNvPr id="12" name="Text 9"/>
          <p:cNvSpPr/>
          <p:nvPr/>
        </p:nvSpPr>
        <p:spPr>
          <a:xfrm>
            <a:off x="8766572" y="5976342"/>
            <a:ext cx="2583537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Daily Attacks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171498" y="6405920"/>
            <a:ext cx="3773686" cy="897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More than </a:t>
            </a:r>
            <a:r>
              <a:rPr lang="en-US" sz="15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2,200 confirmed attacks</a:t>
            </a:r>
            <a:r>
              <a:rPr lang="en-US" sz="15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happen globally every single day — and rising.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3416" y="531852"/>
            <a:ext cx="6758226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Who Gets Hit — and How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3416" y="1487091"/>
            <a:ext cx="13303568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sector is immune. Every industry faces a unique threat profile, yet the attack vectors remain strikingly consistent.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3416" y="2123837"/>
            <a:ext cx="3167658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Breaches by Industry</a:t>
            </a:r>
            <a:endParaRPr lang="en-US" sz="1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16" y="2622113"/>
            <a:ext cx="6420564" cy="3099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78164" y="2950535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23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077690" y="3470219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18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3593595" y="3989903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15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3107596" y="4509588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12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6334019" y="5029272"/>
            <a:ext cx="14168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32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7554039" y="2123837"/>
            <a:ext cx="2852738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Top Attack Vectors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7554039" y="2622113"/>
            <a:ext cx="3127296" cy="1755338"/>
          </a:xfrm>
          <a:prstGeom prst="roundRect">
            <a:avLst>
              <a:gd name="adj" fmla="val 6251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31179" y="2622113"/>
            <a:ext cx="91440" cy="1755338"/>
          </a:xfrm>
          <a:prstGeom prst="roundRect">
            <a:avLst>
              <a:gd name="adj" fmla="val 87077"/>
            </a:avLst>
          </a:prstGeom>
          <a:solidFill>
            <a:srgbClr val="C91313"/>
          </a:solidFill>
          <a:ln/>
        </p:spPr>
      </p:sp>
      <p:sp>
        <p:nvSpPr>
          <p:cNvPr id="14" name="Text 11"/>
          <p:cNvSpPr/>
          <p:nvPr/>
        </p:nvSpPr>
        <p:spPr>
          <a:xfrm>
            <a:off x="7835027" y="2834521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Ransomware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7835027" y="3312081"/>
            <a:ext cx="2633901" cy="852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Encrypts critical data; demands payment for recovery.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10847189" y="2622113"/>
            <a:ext cx="3127415" cy="1755338"/>
          </a:xfrm>
          <a:prstGeom prst="roundRect">
            <a:avLst>
              <a:gd name="adj" fmla="val 6251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824329" y="2622113"/>
            <a:ext cx="91440" cy="1755338"/>
          </a:xfrm>
          <a:prstGeom prst="roundRect">
            <a:avLst>
              <a:gd name="adj" fmla="val 87077"/>
            </a:avLst>
          </a:prstGeom>
          <a:solidFill>
            <a:srgbClr val="C91313"/>
          </a:solidFill>
          <a:ln/>
        </p:spPr>
      </p:sp>
      <p:sp>
        <p:nvSpPr>
          <p:cNvPr id="18" name="Text 15"/>
          <p:cNvSpPr/>
          <p:nvPr/>
        </p:nvSpPr>
        <p:spPr>
          <a:xfrm>
            <a:off x="11128177" y="2834521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Phishing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1128177" y="3312081"/>
            <a:ext cx="2634020" cy="568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Deceptive emails that harvest credentials and access.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7554039" y="4543306"/>
            <a:ext cx="3127296" cy="1755338"/>
          </a:xfrm>
          <a:prstGeom prst="roundRect">
            <a:avLst>
              <a:gd name="adj" fmla="val 6251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31179" y="4543306"/>
            <a:ext cx="91440" cy="1755338"/>
          </a:xfrm>
          <a:prstGeom prst="roundRect">
            <a:avLst>
              <a:gd name="adj" fmla="val 87077"/>
            </a:avLst>
          </a:prstGeom>
          <a:solidFill>
            <a:srgbClr val="C91313"/>
          </a:solidFill>
          <a:ln/>
        </p:spPr>
      </p:sp>
      <p:sp>
        <p:nvSpPr>
          <p:cNvPr id="22" name="Text 19"/>
          <p:cNvSpPr/>
          <p:nvPr/>
        </p:nvSpPr>
        <p:spPr>
          <a:xfrm>
            <a:off x="7835027" y="4755713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Supply Chain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7835027" y="5233273"/>
            <a:ext cx="2633901" cy="568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Exploiting trusted third-party vendors as entry points.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10847189" y="4543306"/>
            <a:ext cx="3127415" cy="1755338"/>
          </a:xfrm>
          <a:prstGeom prst="roundRect">
            <a:avLst>
              <a:gd name="adj" fmla="val 6251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824329" y="4543306"/>
            <a:ext cx="91440" cy="1755338"/>
          </a:xfrm>
          <a:prstGeom prst="roundRect">
            <a:avLst>
              <a:gd name="adj" fmla="val 87077"/>
            </a:avLst>
          </a:prstGeom>
          <a:solidFill>
            <a:srgbClr val="C91313"/>
          </a:solidFill>
          <a:ln/>
        </p:spPr>
      </p:sp>
      <p:sp>
        <p:nvSpPr>
          <p:cNvPr id="26" name="Text 23"/>
          <p:cNvSpPr/>
          <p:nvPr/>
        </p:nvSpPr>
        <p:spPr>
          <a:xfrm>
            <a:off x="11128177" y="4755713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Insider Threats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1128177" y="5233273"/>
            <a:ext cx="2634020" cy="852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Negligent or malicious employees bypassing defenses.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7554039" y="6485215"/>
            <a:ext cx="6420564" cy="1025843"/>
          </a:xfrm>
          <a:prstGeom prst="roundRect">
            <a:avLst>
              <a:gd name="adj" fmla="val 7762"/>
            </a:avLst>
          </a:prstGeom>
          <a:solidFill>
            <a:srgbClr val="4B3F02"/>
          </a:solidFill>
          <a:ln/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3587" y="6762036"/>
            <a:ext cx="236934" cy="18954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170069" y="6698456"/>
            <a:ext cx="5614988" cy="568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82% of all breaches</a:t>
            </a:r>
            <a:r>
              <a:rPr lang="en-US" sz="14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involve human error — making people your most critical vulnerability.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26123" y="529828"/>
            <a:ext cx="1759387" cy="325160"/>
          </a:xfrm>
          <a:prstGeom prst="roundRect">
            <a:avLst>
              <a:gd name="adj" fmla="val 18890"/>
            </a:avLst>
          </a:prstGeom>
          <a:solidFill>
            <a:srgbClr val="460707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235779" y="619244"/>
            <a:ext cx="146209" cy="14620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55093" y="584597"/>
            <a:ext cx="1320760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THREAT SPOTLIGHT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6126123" y="916662"/>
            <a:ext cx="7864554" cy="1202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Ransomware: The </a:t>
            </a:r>
            <a:r>
              <a:rPr lang="en-US" sz="3750" dirty="0">
                <a:solidFill>
                  <a:srgbClr val="C91313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$20 Billion</a:t>
            </a:r>
            <a:r>
              <a:rPr lang="en-US" sz="37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Monster</a:t>
            </a:r>
            <a:endParaRPr lang="en-US" sz="3750" dirty="0"/>
          </a:p>
        </p:txBody>
      </p:sp>
      <p:sp>
        <p:nvSpPr>
          <p:cNvPr id="7" name="Text 3"/>
          <p:cNvSpPr/>
          <p:nvPr/>
        </p:nvSpPr>
        <p:spPr>
          <a:xfrm>
            <a:off x="6126123" y="2350770"/>
            <a:ext cx="7864554" cy="539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Ransomware is no longer a fringe threat — it is the dominant weapon of choice for sophisticated criminal enterprises worldwide.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126123" y="3063359"/>
            <a:ext cx="7864554" cy="1043464"/>
          </a:xfrm>
          <a:prstGeom prst="roundRect">
            <a:avLst>
              <a:gd name="adj" fmla="val 7358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316504" y="3253740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$20B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316504" y="3646884"/>
            <a:ext cx="748379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cost to businesses in 2023 alone — up </a:t>
            </a:r>
            <a:r>
              <a:rPr lang="en-US" sz="14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95% year-over-year</a:t>
            </a: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26123" y="4261009"/>
            <a:ext cx="7864554" cy="1043464"/>
          </a:xfrm>
          <a:prstGeom prst="roundRect">
            <a:avLst>
              <a:gd name="adj" fmla="val 7358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16504" y="4451390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$1.54M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6316504" y="4844534"/>
            <a:ext cx="748379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ransom demand per incident, with payments often made under duress.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26123" y="5458658"/>
            <a:ext cx="7864554" cy="1043464"/>
          </a:xfrm>
          <a:prstGeom prst="roundRect">
            <a:avLst>
              <a:gd name="adj" fmla="val 7358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316504" y="5649039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21 Days</a:t>
            </a:r>
            <a:endParaRPr lang="en-US" sz="1850" dirty="0"/>
          </a:p>
        </p:txBody>
      </p:sp>
      <p:sp>
        <p:nvSpPr>
          <p:cNvPr id="16" name="Text 12"/>
          <p:cNvSpPr/>
          <p:nvPr/>
        </p:nvSpPr>
        <p:spPr>
          <a:xfrm>
            <a:off x="6316504" y="6042184"/>
            <a:ext cx="748379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operational downtime following a successful ransomware attack.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126123" y="6656308"/>
            <a:ext cx="7864554" cy="1043464"/>
          </a:xfrm>
          <a:prstGeom prst="roundRect">
            <a:avLst>
              <a:gd name="adj" fmla="val 7358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16504" y="6846689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65%</a:t>
            </a:r>
            <a:endParaRPr lang="en-US" sz="1850" dirty="0"/>
          </a:p>
        </p:txBody>
      </p:sp>
      <p:sp>
        <p:nvSpPr>
          <p:cNvPr id="19" name="Text 15"/>
          <p:cNvSpPr/>
          <p:nvPr/>
        </p:nvSpPr>
        <p:spPr>
          <a:xfrm>
            <a:off x="6316504" y="7239833"/>
            <a:ext cx="748379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 of encrypted data ever recovered — even when the ransom is paid in full.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20434" y="477798"/>
            <a:ext cx="4452461" cy="43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Two Cautionary Tales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520434" y="1072872"/>
            <a:ext cx="9589413" cy="16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Real-world breaches reveal how swiftly a single vulnerability can trigger catastrophic, enterprise-wide failure.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5422" y="1333262"/>
            <a:ext cx="6310432" cy="6418421"/>
          </a:xfrm>
          <a:prstGeom prst="roundRect">
            <a:avLst>
              <a:gd name="adj" fmla="val 1506"/>
            </a:avLst>
          </a:prstGeom>
          <a:solidFill>
            <a:srgbClr val="510C04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557343" y="2148245"/>
            <a:ext cx="1085136" cy="230267"/>
          </a:xfrm>
          <a:prstGeom prst="roundRect">
            <a:avLst>
              <a:gd name="adj" fmla="val 19265"/>
            </a:avLst>
          </a:prstGeom>
          <a:noFill/>
          <a:ln w="7620">
            <a:solidFill>
              <a:srgbClr val="C913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44140" y="2195393"/>
            <a:ext cx="911543" cy="135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CASE STUDY · 2021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557343" y="2410658"/>
            <a:ext cx="1737122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Colonial Pipeline</a:t>
            </a:r>
            <a:endParaRPr lang="en-US" sz="13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343" y="2718197"/>
            <a:ext cx="6046589" cy="342638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57343" y="6235065"/>
            <a:ext cx="6046589" cy="76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</a:t>
            </a:r>
            <a:r>
              <a:rPr lang="en-US" sz="10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 compromised password</a:t>
            </a: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no MFA — was the sole point of entry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Shut down </a:t>
            </a:r>
            <a:r>
              <a:rPr lang="en-US" sz="10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45% of US East Coast fuel supply</a:t>
            </a: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within hours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$4.4M ransom</a:t>
            </a: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paid; 17 states declared emergency status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Weeks of operational disruption and regulatory scrutiny followed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970407" y="1423749"/>
            <a:ext cx="1114663" cy="230267"/>
          </a:xfrm>
          <a:prstGeom prst="roundRect">
            <a:avLst>
              <a:gd name="adj" fmla="val 19265"/>
            </a:avLst>
          </a:prstGeom>
          <a:noFill/>
          <a:ln w="7620">
            <a:solidFill>
              <a:srgbClr val="C9131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57203" y="1470898"/>
            <a:ext cx="941070" cy="135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CASE STUDY · 2023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970407" y="1686163"/>
            <a:ext cx="1737122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MGM Resorts</a:t>
            </a:r>
            <a:endParaRPr lang="en-US" sz="13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407" y="1993702"/>
            <a:ext cx="3146941" cy="41958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970407" y="6280071"/>
            <a:ext cx="3146941" cy="144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Hackers </a:t>
            </a:r>
            <a:r>
              <a:rPr lang="en-US" sz="10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social-engineered the IT helpdesk</a:t>
            </a: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a single 10-minute phone call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Casino floors went dark; hotel systems failed across multiple properties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$100M+ in losses</a:t>
            </a: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; millions of customer records exposed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Brand damage and customer trust erosion persisted long after recovery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258" y="554593"/>
            <a:ext cx="6275308" cy="579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True Cost Iceberg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22258" y="1419582"/>
            <a:ext cx="12785884" cy="25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companies report as "breach costs" is rarely the full picture. The most damaging expenses lie hidden beneath the surface.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58" y="1996559"/>
            <a:ext cx="5517475" cy="551747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258" y="1996559"/>
            <a:ext cx="5517475" cy="55174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76693" y="2533769"/>
            <a:ext cx="4561403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Visible Costs </a:t>
            </a:r>
            <a:r>
              <a:rPr lang="en-US" sz="1800" i="1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(Above the Surface)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876693" y="2966204"/>
            <a:ext cx="6838950" cy="865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Ransom payments to threat actors</a:t>
            </a:r>
            <a:endParaRPr lang="en-US" sz="135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Emergency IT recovery and forensics</a:t>
            </a:r>
            <a:endParaRPr lang="en-US" sz="135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Regulatory fines and compliance penalties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876693" y="3975021"/>
            <a:ext cx="4523423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Hidden Costs </a:t>
            </a:r>
            <a:r>
              <a:rPr lang="en-US" sz="1800" i="1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(Below the Surface)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876693" y="4407456"/>
            <a:ext cx="683895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Brand reputation damage and customer churn</a:t>
            </a:r>
            <a:endParaRPr lang="en-US" sz="135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Lost productivity across the organization</a:t>
            </a:r>
            <a:endParaRPr lang="en-US" sz="135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Legal liability and litigation exposure</a:t>
            </a:r>
            <a:endParaRPr lang="en-US" sz="135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Surging cyber insurance premiums</a:t>
            </a:r>
            <a:endParaRPr lang="en-US" sz="135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Executive distraction from core business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876693" y="6044684"/>
            <a:ext cx="6838950" cy="914162"/>
          </a:xfrm>
          <a:prstGeom prst="roundRect">
            <a:avLst>
              <a:gd name="adj" fmla="val 8088"/>
            </a:avLst>
          </a:prstGeom>
          <a:solidFill>
            <a:srgbClr val="450707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2667" y="6293406"/>
            <a:ext cx="220028" cy="17597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48669" y="6231612"/>
            <a:ext cx="6090999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Hidden costs are typically 4–5× greater</a:t>
            </a:r>
            <a:r>
              <a:rPr lang="en-US" sz="13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than the visible breach expenses most organizations account for.</a:t>
            </a:r>
            <a:endParaRPr lang="en-US" sz="135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22258" y="1996559"/>
            <a:ext cx="5517475" cy="551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709" y="649010"/>
            <a:ext cx="9424868" cy="67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Human &amp; Structural Gaps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22709" y="1721882"/>
            <a:ext cx="13184981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i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gaps attackers exploit every single day."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2709" y="2368987"/>
            <a:ext cx="4231005" cy="681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en-US" sz="5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82%</a:t>
            </a:r>
            <a:endParaRPr lang="en-US" sz="5350" dirty="0"/>
          </a:p>
        </p:txBody>
      </p:sp>
      <p:sp>
        <p:nvSpPr>
          <p:cNvPr id="5" name="Text 3"/>
          <p:cNvSpPr/>
          <p:nvPr/>
        </p:nvSpPr>
        <p:spPr>
          <a:xfrm>
            <a:off x="1479590" y="3301127"/>
            <a:ext cx="2717125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Human Error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2709" y="3758684"/>
            <a:ext cx="4231005" cy="967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all confirmed breaches trace back to negligence, mistakes, or manipulated employees.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99698" y="2368987"/>
            <a:ext cx="4231005" cy="681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en-US" sz="5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3.5M</a:t>
            </a:r>
            <a:endParaRPr lang="en-US" sz="5350" dirty="0"/>
          </a:p>
        </p:txBody>
      </p:sp>
      <p:sp>
        <p:nvSpPr>
          <p:cNvPr id="8" name="Text 6"/>
          <p:cNvSpPr/>
          <p:nvPr/>
        </p:nvSpPr>
        <p:spPr>
          <a:xfrm>
            <a:off x="5956578" y="3301127"/>
            <a:ext cx="2717125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Unfilled Jobs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199698" y="3758684"/>
            <a:ext cx="4231005" cy="64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Cybersecurity roles sitting vacant globally — a critical talent shortage with no quick fix.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76686" y="2368987"/>
            <a:ext cx="4231005" cy="681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en-US" sz="5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43%</a:t>
            </a:r>
            <a:endParaRPr lang="en-US" sz="5350" dirty="0"/>
          </a:p>
        </p:txBody>
      </p:sp>
      <p:sp>
        <p:nvSpPr>
          <p:cNvPr id="11" name="Text 9"/>
          <p:cNvSpPr/>
          <p:nvPr/>
        </p:nvSpPr>
        <p:spPr>
          <a:xfrm>
            <a:off x="10433566" y="3301127"/>
            <a:ext cx="2717125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Target SMBs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76686" y="3758684"/>
            <a:ext cx="4231005" cy="967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attacks specifically target small businesses, assuming weaker defenses and faster payouts.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61203" y="5223153"/>
            <a:ext cx="4231005" cy="681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en-US" sz="5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60%</a:t>
            </a:r>
            <a:endParaRPr lang="en-US" sz="5350" dirty="0"/>
          </a:p>
        </p:txBody>
      </p:sp>
      <p:sp>
        <p:nvSpPr>
          <p:cNvPr id="14" name="Text 12"/>
          <p:cNvSpPr/>
          <p:nvPr/>
        </p:nvSpPr>
        <p:spPr>
          <a:xfrm>
            <a:off x="3718084" y="6155293"/>
            <a:ext cx="2717125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SMBs Close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961203" y="6612850"/>
            <a:ext cx="4231005" cy="64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small businesses shut down permanently within 6 months of suffering a major breach.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38192" y="5223153"/>
            <a:ext cx="4231005" cy="681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en-US" sz="5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77%</a:t>
            </a:r>
            <a:endParaRPr lang="en-US" sz="5350" dirty="0"/>
          </a:p>
        </p:txBody>
      </p:sp>
      <p:sp>
        <p:nvSpPr>
          <p:cNvPr id="17" name="Text 15"/>
          <p:cNvSpPr/>
          <p:nvPr/>
        </p:nvSpPr>
        <p:spPr>
          <a:xfrm>
            <a:off x="8195072" y="6155293"/>
            <a:ext cx="2717125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No IR Plan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438192" y="6612850"/>
            <a:ext cx="4231005" cy="967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organizations have no formal incident response plan in place when an attack occurs.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258" y="547688"/>
            <a:ext cx="12195334" cy="579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 Actionable Steps to Protect Your Business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22258" y="1412677"/>
            <a:ext cx="12785884" cy="25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most resilient organizations don't wait for a breach — they build defenses that make attacks exponentially harder and recoveries exponentially faster.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22258" y="1828800"/>
            <a:ext cx="12785884" cy="1056203"/>
          </a:xfrm>
          <a:prstGeom prst="roundRect">
            <a:avLst>
              <a:gd name="adj" fmla="val 7000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5118" y="1851660"/>
            <a:ext cx="704136" cy="1010483"/>
          </a:xfrm>
          <a:prstGeom prst="roundRect">
            <a:avLst>
              <a:gd name="adj" fmla="val 6604"/>
            </a:avLst>
          </a:prstGeom>
          <a:solidFill>
            <a:srgbClr val="740B0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61336" y="2224802"/>
            <a:ext cx="263962" cy="263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92248" y="2027634"/>
            <a:ext cx="3314700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Zero Trust Architecture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92248" y="2402800"/>
            <a:ext cx="11717060" cy="25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Verify every user, every device, every time. No implicit trust inside or outside the perimeter.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22258" y="3027998"/>
            <a:ext cx="12785884" cy="1056203"/>
          </a:xfrm>
          <a:prstGeom prst="roundRect">
            <a:avLst>
              <a:gd name="adj" fmla="val 7000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5118" y="3050858"/>
            <a:ext cx="704136" cy="1010483"/>
          </a:xfrm>
          <a:prstGeom prst="roundRect">
            <a:avLst>
              <a:gd name="adj" fmla="val 6604"/>
            </a:avLst>
          </a:prstGeom>
          <a:solidFill>
            <a:srgbClr val="740B0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161336" y="3423999"/>
            <a:ext cx="263962" cy="263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92248" y="3226832"/>
            <a:ext cx="3796665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Employee Security Training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792248" y="3601998"/>
            <a:ext cx="11717060" cy="25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Simulated phishing campaigns and continuous awareness programs transform your riskiest asset into your strongest defense.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922258" y="4227195"/>
            <a:ext cx="12785884" cy="1056203"/>
          </a:xfrm>
          <a:prstGeom prst="roundRect">
            <a:avLst>
              <a:gd name="adj" fmla="val 7000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45118" y="4250055"/>
            <a:ext cx="704136" cy="1010483"/>
          </a:xfrm>
          <a:prstGeom prst="roundRect">
            <a:avLst>
              <a:gd name="adj" fmla="val 6604"/>
            </a:avLst>
          </a:prstGeom>
          <a:solidFill>
            <a:srgbClr val="740B0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161336" y="4623197"/>
            <a:ext cx="263962" cy="2639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92248" y="4426029"/>
            <a:ext cx="3811429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Incident Response Planning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792248" y="4801195"/>
            <a:ext cx="11717060" cy="25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documented IR plan reduces average breach cost by </a:t>
            </a:r>
            <a:r>
              <a:rPr lang="en-US" sz="13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$2.66M</a:t>
            </a: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the highest-ROI investment in security.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922258" y="5426393"/>
            <a:ext cx="12785884" cy="1056203"/>
          </a:xfrm>
          <a:prstGeom prst="roundRect">
            <a:avLst>
              <a:gd name="adj" fmla="val 7000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45118" y="5449252"/>
            <a:ext cx="704136" cy="1010483"/>
          </a:xfrm>
          <a:prstGeom prst="roundRect">
            <a:avLst>
              <a:gd name="adj" fmla="val 6604"/>
            </a:avLst>
          </a:prstGeom>
          <a:solidFill>
            <a:srgbClr val="740B0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1161336" y="5822394"/>
            <a:ext cx="263962" cy="2639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92248" y="5625227"/>
            <a:ext cx="3648551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Third-Party Vendor Audits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792248" y="6000393"/>
            <a:ext cx="11717060" cy="25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62% of breaches</a:t>
            </a: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originate with a vendor. Rigorously audit all third-party access and supply chain integrations.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922258" y="6625590"/>
            <a:ext cx="12785884" cy="1056203"/>
          </a:xfrm>
          <a:prstGeom prst="roundRect">
            <a:avLst>
              <a:gd name="adj" fmla="val 7000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45118" y="6648450"/>
            <a:ext cx="704136" cy="1010483"/>
          </a:xfrm>
          <a:prstGeom prst="roundRect">
            <a:avLst>
              <a:gd name="adj" fmla="val 6604"/>
            </a:avLst>
          </a:prstGeom>
          <a:solidFill>
            <a:srgbClr val="740B0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161336" y="7021592"/>
            <a:ext cx="263962" cy="2639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92248" y="6824424"/>
            <a:ext cx="2322076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Cyber Insurance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1792248" y="7199590"/>
            <a:ext cx="11717060" cy="25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Purpose-built coverage for ransom payments, business interruption, recovery costs, and legal liability.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616" y="647581"/>
            <a:ext cx="8056245" cy="690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Your 90-Day Action Plan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34616" y="1744504"/>
            <a:ext cx="1316116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clear, sequenced roadmap from vulnerability to resilience — built for execution, not just awareness.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16" y="2303740"/>
            <a:ext cx="4386977" cy="8395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4404" y="3346490"/>
            <a:ext cx="279844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Month 1 — Assess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944404" y="3813691"/>
            <a:ext cx="3967401" cy="1794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Commission a full security audit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 and rank all critical vulnerabilities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and restrict all vendor access privileges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1593" y="2303740"/>
            <a:ext cx="4387096" cy="8395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31381" y="3346490"/>
            <a:ext cx="3493889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Month 2 — Strengthen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5331381" y="3813691"/>
            <a:ext cx="3967520" cy="2125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 Zero Trust architecture and MFA enterprise-wide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Launch mandatory employee security training program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Formalize and distribute the incident response plan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688" y="2303740"/>
            <a:ext cx="4387096" cy="8395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8477" y="3346490"/>
            <a:ext cx="3822144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Month 3 — Test &amp; Insure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9718477" y="3813691"/>
            <a:ext cx="3967520" cy="2125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Execute live phishing simulations across all staff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Conduct tabletop breach response exercises with leadership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Finalize and activate your cyber insurance policy</a:t>
            </a:r>
            <a:endParaRPr lang="en-US" sz="1650" dirty="0"/>
          </a:p>
        </p:txBody>
      </p:sp>
      <p:sp>
        <p:nvSpPr>
          <p:cNvPr id="13" name="Shape 8"/>
          <p:cNvSpPr/>
          <p:nvPr/>
        </p:nvSpPr>
        <p:spPr>
          <a:xfrm>
            <a:off x="734616" y="6377464"/>
            <a:ext cx="13161169" cy="1204555"/>
          </a:xfrm>
          <a:prstGeom prst="roundRect">
            <a:avLst>
              <a:gd name="adj" fmla="val 7318"/>
            </a:avLst>
          </a:prstGeom>
          <a:solidFill>
            <a:srgbClr val="183A13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404" y="6684645"/>
            <a:ext cx="262295" cy="2097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6487" y="6633091"/>
            <a:ext cx="12269510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Organizations that complete all three phases reduce average breach costs by more than </a:t>
            </a:r>
            <a:r>
              <a:rPr lang="en-US" sz="16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$2.66M</a:t>
            </a:r>
            <a:r>
              <a:rPr lang="en-US" sz="16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recover </a:t>
            </a:r>
            <a:r>
              <a:rPr lang="en-US" sz="16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40% faster</a:t>
            </a:r>
            <a:r>
              <a:rPr lang="en-US" sz="16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than unprepared peers.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5416" y="581978"/>
            <a:ext cx="7745968" cy="1813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100"/>
              </a:lnSpc>
              <a:buNone/>
            </a:pPr>
            <a:r>
              <a:rPr lang="en-US" sz="5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Cost of Doing Nothing</a:t>
            </a:r>
            <a:endParaRPr lang="en-US" sz="5700" dirty="0"/>
          </a:p>
        </p:txBody>
      </p:sp>
      <p:sp>
        <p:nvSpPr>
          <p:cNvPr id="4" name="Text 1"/>
          <p:cNvSpPr/>
          <p:nvPr/>
        </p:nvSpPr>
        <p:spPr>
          <a:xfrm>
            <a:off x="6484977" y="2878455"/>
            <a:ext cx="7446407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question is no longer </a:t>
            </a:r>
            <a:r>
              <a:rPr lang="en-US" sz="1550" i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</a:t>
            </a:r>
            <a:r>
              <a:rPr lang="en-US" sz="1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your business will be targeted — it's </a:t>
            </a:r>
            <a:r>
              <a:rPr lang="en-US" sz="1550" i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when.</a:t>
            </a:r>
            <a:r>
              <a:rPr lang="en-US" sz="1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Every day without action is a calculated, compounding risk."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185416" y="2671405"/>
            <a:ext cx="22860" cy="1028224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6" name="Shape 3"/>
          <p:cNvSpPr/>
          <p:nvPr/>
        </p:nvSpPr>
        <p:spPr>
          <a:xfrm>
            <a:off x="6185416" y="3906679"/>
            <a:ext cx="7745968" cy="2919651"/>
          </a:xfrm>
          <a:prstGeom prst="roundRect">
            <a:avLst>
              <a:gd name="adj" fmla="val 2873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93036" y="3914299"/>
            <a:ext cx="7730728" cy="1452205"/>
          </a:xfrm>
          <a:prstGeom prst="roundRect">
            <a:avLst>
              <a:gd name="adj" fmla="val 5777"/>
            </a:avLst>
          </a:prstGeom>
          <a:solidFill>
            <a:srgbClr val="740B0B"/>
          </a:solidFill>
          <a:ln/>
        </p:spPr>
      </p:sp>
      <p:sp>
        <p:nvSpPr>
          <p:cNvPr id="8" name="Text 5"/>
          <p:cNvSpPr/>
          <p:nvPr/>
        </p:nvSpPr>
        <p:spPr>
          <a:xfrm>
            <a:off x="6392704" y="4113967"/>
            <a:ext cx="2628067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Hard Reality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6392704" y="4552712"/>
            <a:ext cx="7331393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Companies that delay cybersecurity investment spend </a:t>
            </a:r>
            <a:r>
              <a:rPr lang="en-US" sz="15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3× more</a:t>
            </a:r>
            <a:r>
              <a:rPr lang="en-US" sz="1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 breach recovery than those who act proactively.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193036" y="5366504"/>
            <a:ext cx="7730728" cy="1452205"/>
          </a:xfrm>
          <a:prstGeom prst="rect">
            <a:avLst/>
          </a:prstGeom>
          <a:solidFill>
            <a:srgbClr val="740B0B"/>
          </a:solidFill>
          <a:ln/>
        </p:spPr>
      </p:sp>
      <p:sp>
        <p:nvSpPr>
          <p:cNvPr id="11" name="Shape 8"/>
          <p:cNvSpPr/>
          <p:nvPr/>
        </p:nvSpPr>
        <p:spPr>
          <a:xfrm>
            <a:off x="6193036" y="5366504"/>
            <a:ext cx="7730728" cy="22860"/>
          </a:xfrm>
          <a:prstGeom prst="roundRect">
            <a:avLst>
              <a:gd name="adj" fmla="val 366968"/>
            </a:avLst>
          </a:prstGeom>
          <a:solidFill>
            <a:srgbClr val="8D2424"/>
          </a:solidFill>
          <a:ln/>
        </p:spPr>
      </p:sp>
      <p:sp>
        <p:nvSpPr>
          <p:cNvPr id="12" name="Text 9"/>
          <p:cNvSpPr/>
          <p:nvPr/>
        </p:nvSpPr>
        <p:spPr>
          <a:xfrm>
            <a:off x="6392704" y="5566172"/>
            <a:ext cx="2628067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Your Next Move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6392704" y="6004917"/>
            <a:ext cx="7331393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Schedule your security audit </a:t>
            </a:r>
            <a:r>
              <a:rPr lang="en-US" sz="155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week</a:t>
            </a:r>
            <a:r>
              <a:rPr lang="en-US" sz="1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Identify your gaps before an attacker does. The window to act on your terms is now.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185416" y="7033379"/>
            <a:ext cx="7745968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your security audit this week.</a:t>
            </a:r>
            <a:r>
              <a:rPr lang="en-US" sz="1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cost of preparation is always less than the cost of a breach.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981</Words>
  <Application>Microsoft Office PowerPoint</Application>
  <PresentationFormat>Custom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Dela Gothic One</vt:lpstr>
      <vt:lpstr>Calibri</vt:lpstr>
      <vt:lpstr>DM Sans</vt:lpstr>
      <vt:lpstr>-apple-system, BlinkMacSystemFont, Segoe UI, Roboto, Helvetica Neue, Arial, sans-serif Medium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Jiya Mallick</dc:creator>
  <cp:lastModifiedBy>Jiya Mallick</cp:lastModifiedBy>
  <cp:revision>2</cp:revision>
  <dcterms:created xsi:type="dcterms:W3CDTF">2026-04-21T23:23:48Z</dcterms:created>
  <dcterms:modified xsi:type="dcterms:W3CDTF">2026-04-21T23:45:55Z</dcterms:modified>
</cp:coreProperties>
</file>